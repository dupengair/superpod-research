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这篇是华为 2025 年 6 月挂出的 CloudMatrix384 超节点系统论文，48 位作者，华为云与 SiliconFlow 合作。它回答一个问题：服务 6710 亿参数的 DeepSeek-R1，用什么硬件、什么软件栈效率最高。汇报分四块：动机、超节点架构、CloudMatrix-Infer 推理方案、评估结果。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背景讲三层：模型侧三重增长；部署侧真实负载的四类压力；以及 KV 缓存线性增长这个新瓶颈。作者据此主张：传统集群的层次式架构到头了，要推翻重来。注意这页是全文动机，后面所有设计都对应这四个约束。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问题页。左上是传统集群的数字：节点内外带宽差一个数量级，这是所有调度复杂度的根源。右栏是论文的原话，全对等三个关键词：池化、平等、自由组合。图 1 展示从分池分层到统一超节点的愿景。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方法总览。硬件上 384 颗 910（每颗双芯粒，共 768 die）+ 192 颗鲲鹏 CPU 打成一个超节点。关键不是规模数字，而是拓扑：UB 交换让任何两个芯粒之间都是对等关系，没有节点内/节点外的带宽断崖。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UB 交换系统是全对等的物理基础。两个层次交换机，单跳语义。数据用通信算子对比：同样是 MoE 的 Combine，CANN 在 CM384 上每 rank 131 GB/s，H800 走 RDMA 只有 46，三倍差距；且高 EP 度下保持。诚实说明：Dispatch 在大 EP 度下带宽退化，作者自己指出是待优化点。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软件架构第一步：PDC 分离。与 Dynamo、Mooncake 的本质区别在于缓存访问不依赖局部性——因为 UB 让远程访问带宽接近本地。这页是论文第一项核心创新。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第二项创新：大规模专家并行。DeepSeek-R1 有 256 个路由专家，CM384 用 EP320 把每个专家放到一个芯粒上，多出的部署冗余。通信侧用两个融合算子替换三次 all-to-all，直写远端 UBuffer，配合数据发送流水线隐藏地址计算。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两个解码加速器。微批次是把一条迭代切成微批重叠两条执行流；MTP 是投机解码的模型内建版。重点是底部对照：H100 上微批次能拿 35%，这里只有个位数——因为 UB 通信开销本来就小，可隐藏的空间小。这恰好说明互连才是根子。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第三块创新：把全池 DRAM 当一层缓存。模型加载的数字最直观：不加缓存 8 个实例抢 2.5G 带宽要 2560 秒，EMS 共享加载只要 320 秒，8 倍。上下文缓存复用率 90% 时 prefill 吞吐 2.28 倍。这个设计只有 UB 带宽才做得起——VPC 平面同样配置明显更差。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主结果。看效率列而不是绝对吞吐列：CM384 芯粒 FP16 算力低于 H100/H800，但每 TFLOPS 产出的 token 更多，prefill 4.45、decode 1.29 都是最高的。绝对吞吐略低于两个 batch 128 的系统，注意公平性脚注。左边默认配置 3.76 也已超过 SGLang 默认，差距来自 EPLB 负载均衡还有优化空间。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量化这页给两个信息：一是方案成体系，五个组件都在正文有公式与推导；二是验证充分，16 项基准跟官方 API 对齐，MMLU 只差 0.23 个点。算子利用率数据说明 INT8 内核确实吃满了昇腾的整数算力。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三句话：互连是这类系统的第一性资源；软件栈的职责是把互连红利兑换成推理效率；论文自己承认的三个缺口值得跟踪。最后落到我们课题：这篇是统一性路线目前最完整的公开工程参照，六.一/六.二节的演进路线图与我们关注的问题直接相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0800" cy="2834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000" b="1">
                <a:solidFill>
                  <a:srgbClr val="1A1A1A"/>
                </a:solidFill>
                <a:latin typeface="Microsoft YaHei"/>
              </a:rPr>
              <a:t>在华为 CloudMatrix384 超节点上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000" b="1">
                <a:solidFill>
                  <a:srgbClr val="1A1A1A"/>
                </a:solidFill>
                <a:latin typeface="Microsoft YaHei"/>
              </a:rPr>
              <a:t>服务大语言模型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6E6E6E"/>
                </a:solidFill>
                <a:latin typeface="Arial"/>
              </a:rPr>
              <a:t>Serving Large Language Models on Huawei CloudMatrix384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E6E6E"/>
                </a:solidFill>
                <a:latin typeface="Arial"/>
              </a:rPr>
              <a:t>arXiv:2506.12708 · 华为 &amp; SiliconFlow · 2025-06 · CC BY 4.0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977639"/>
            <a:ext cx="342900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114800"/>
            <a:ext cx="30998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F4E79"/>
                </a:solidFill>
                <a:latin typeface="Arial"/>
              </a:rPr>
              <a:t>6,688 / 1,943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626864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prefill / decode 吞吐（tokens/s/NPU）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3977639"/>
            <a:ext cx="342900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4114800"/>
            <a:ext cx="30998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F4E79"/>
                </a:solidFill>
                <a:latin typeface="Arial"/>
              </a:rPr>
              <a:t>4.45 / 1.29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4626864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prefill / decode 计算效率（tokens/s/TFLOPS）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3977639"/>
            <a:ext cx="342900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4114800"/>
            <a:ext cx="30998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F4E79"/>
                </a:solidFill>
                <a:latin typeface="Arial"/>
              </a:rPr>
              <a:t>16 项基准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4626864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INT8 量化精度与官方 API 相当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B0B0B0"/>
                </a:solidFill>
                <a:latin typeface="Microsoft YaHei"/>
              </a:rPr>
              <a:t>组会文献汇报 · 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icrosoft YaHei"/>
              </a:rPr>
              <a:t>参数、MoE、长上下文三重增长，把传统集群推向可扩展性极限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3258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50" b="1">
                <a:solidFill>
                  <a:srgbClr val="1A1A1A"/>
                </a:solidFill>
                <a:latin typeface="Microsoft YaHei"/>
              </a:rPr>
              <a:t>▪ 万亿参数 MoE + 百万 token 上下文：</a:t>
            </a:r>
            <a:r>
              <a:rPr sz="1550">
                <a:solidFill>
                  <a:srgbClr val="404040"/>
                </a:solidFill>
                <a:latin typeface="Microsoft YaHei"/>
              </a:rPr>
              <a:t>算力强度、内存带宽、芯片间通信、时延约束同时收紧（§2.1）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50" b="1">
                <a:solidFill>
                  <a:srgbClr val="1A1A1A"/>
                </a:solidFill>
                <a:latin typeface="Microsoft YaHei"/>
              </a:rPr>
              <a:t>▪ 真实部署再叠加四类压力：</a:t>
            </a:r>
            <a:r>
              <a:rPr sz="1550">
                <a:solidFill>
                  <a:srgbClr val="404040"/>
                </a:solidFill>
                <a:latin typeface="Microsoft YaHei"/>
              </a:rPr>
              <a:t>变长输入、突发查询、专家激活不均衡，还要守住 SLO（§1）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50" b="1">
                <a:solidFill>
                  <a:srgbClr val="1A1A1A"/>
                </a:solidFill>
                <a:latin typeface="Microsoft YaHei"/>
              </a:rPr>
              <a:t>▪ KV 缓存随并发数线性增长：</a:t>
            </a:r>
            <a:r>
              <a:rPr sz="1550">
                <a:solidFill>
                  <a:srgbClr val="404040"/>
                </a:solidFill>
                <a:latin typeface="Microsoft YaHei"/>
              </a:rPr>
              <a:t>如何在全系统分布、放置、访问 KV 缓存成为一级约束（§2.2）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434840"/>
            <a:ext cx="2697480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4617720"/>
            <a:ext cx="2404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计算强度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5029200"/>
            <a:ext cx="2404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E6E6E"/>
                </a:solidFill>
                <a:latin typeface="Microsoft YaHei"/>
              </a:rPr>
              <a:t>密集 GEMM/注意力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5848" y="4434840"/>
            <a:ext cx="2697480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4617720"/>
            <a:ext cx="2404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内存带宽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5029200"/>
            <a:ext cx="2404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E6E6E"/>
                </a:solidFill>
                <a:latin typeface="Microsoft YaHei"/>
              </a:rPr>
              <a:t>KV 缓存读放大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4434840"/>
            <a:ext cx="2697480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617720"/>
            <a:ext cx="2404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互连开销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029200"/>
            <a:ext cx="2404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E6E6E"/>
                </a:solidFill>
                <a:latin typeface="Microsoft YaHei"/>
              </a:rPr>
              <a:t>all-to-all 通信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70264" y="4434840"/>
            <a:ext cx="2697480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8" y="4617720"/>
            <a:ext cx="2404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时延 SLO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5029200"/>
            <a:ext cx="2404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E6E6E"/>
                </a:solidFill>
                <a:latin typeface="Microsoft YaHei"/>
              </a:rPr>
              <a:t>TPOT/TTFT 双指标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F4E79"/>
                </a:solidFill>
                <a:latin typeface="Microsoft YaHei"/>
              </a:rPr>
              <a:t>论文判断：这些约束叠加后，修补式扩展不再够用，需要软硬件协同的重新架构（§1）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6E6E6E"/>
                </a:solidFill>
                <a:latin typeface="Arial"/>
              </a:rPr>
              <a:t>Source: §1-2, arXiv:2506.12708v3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icrosoft YaHei"/>
              </a:rPr>
              <a:t>层次式互连把通信密集操作卡在“节点边界”上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3258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989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1">
                <a:solidFill>
                  <a:srgbClr val="1A1A1A"/>
                </a:solidFill>
                <a:latin typeface="Microsoft YaHei"/>
              </a:rPr>
              <a:t>▪ 带宽断崖：</a:t>
            </a:r>
            <a:r>
              <a:rPr sz="1450">
                <a:solidFill>
                  <a:srgbClr val="404040"/>
                </a:solidFill>
                <a:latin typeface="Microsoft YaHei"/>
              </a:rPr>
              <a:t>节点内 PCIe 约 256 GB/s，节点间仅约 25 GB/s（200 Gbps）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1">
                <a:solidFill>
                  <a:srgbClr val="1A1A1A"/>
                </a:solidFill>
                <a:latin typeface="Microsoft YaHei"/>
              </a:rPr>
              <a:t>▪ 调度被迫迁就局部性：</a:t>
            </a:r>
            <a:r>
              <a:rPr sz="1450">
                <a:solidFill>
                  <a:srgbClr val="404040"/>
                </a:solidFill>
                <a:latin typeface="Microsoft YaHei"/>
              </a:rPr>
              <a:t>Dynamo、Mooncake 等 KVCache 中心化架构把请求绑到缓存所在节点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1">
                <a:solidFill>
                  <a:srgbClr val="1A1A1A"/>
                </a:solidFill>
                <a:latin typeface="Microsoft YaHei"/>
              </a:rPr>
              <a:t>▪ 代价：</a:t>
            </a:r>
            <a:r>
              <a:rPr sz="1450">
                <a:solidFill>
                  <a:srgbClr val="404040"/>
                </a:solidFill>
                <a:latin typeface="Microsoft YaHei"/>
              </a:rPr>
              <a:t>调度复杂、动态负载下易失衡，解码节点 DRAM 成为孤岛（§4.1）</a:t>
            </a:r>
          </a:p>
        </p:txBody>
      </p:sp>
      <p:pic>
        <p:nvPicPr>
          <p:cNvPr id="5" name="Picture 4" descr="fi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39312"/>
            <a:ext cx="5440680" cy="25606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6E6E6E"/>
                </a:solidFill>
                <a:latin typeface="Microsoft YaHei"/>
              </a:rPr>
              <a:t>CloudMatrix 愿景：拆掉机柜/节点分层，全对等池化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6E6E6E"/>
                </a:solidFill>
                <a:latin typeface="Arial"/>
              </a:rPr>
              <a:t>Source: Fig. 1, arXiv:2506.12708v3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1600200"/>
            <a:ext cx="47091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874519"/>
            <a:ext cx="41605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6E6E6E"/>
                </a:solidFill>
                <a:latin typeface="Microsoft YaHei"/>
              </a:rPr>
              <a:t>论文的核心主张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icrosoft YaHei"/>
              </a:rPr>
              <a:t>“一切皆可池化、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icrosoft YaHei"/>
              </a:rPr>
              <a:t>被平等对待、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icrosoft YaHei"/>
              </a:rPr>
              <a:t>自由组合。”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</a:rPr>
              <a:t>MoE 专家并行与分布式 KV 访问这两类通信密集操作，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</a:rPr>
              <a:t>最直接受益于全对等高带宽互连（§3.1）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icrosoft YaHei"/>
              </a:rPr>
              <a:t>CloudMatrix384：384 颗昇腾 910 + 192 颗鲲鹏组成全对等超节点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3258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371600"/>
            <a:ext cx="9509760" cy="41002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59987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</a:rPr>
              <a:t>▪ 768 个 NPU 芯粒经统一总线（UB，灵衢）互连：</a:t>
            </a:r>
            <a:r>
              <a:rPr sz="1300">
                <a:solidFill>
                  <a:srgbClr val="404040"/>
                </a:solidFill>
                <a:latin typeface="Microsoft YaHei"/>
              </a:rPr>
              <a:t>任意芯粒间通信不跨层次，两跳直达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</a:rPr>
              <a:t>▪ 算力、内存、网络均成为可池化资源：</a:t>
            </a:r>
            <a:r>
              <a:rPr sz="1300">
                <a:solidFill>
                  <a:srgbClr val="404040"/>
                </a:solidFill>
                <a:latin typeface="Microsoft YaHei"/>
              </a:rPr>
              <a:t>统一地址语义访问、按需独立扩展（§3.2）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6E6E6E"/>
                </a:solidFill>
                <a:latin typeface="Arial"/>
              </a:rPr>
              <a:t>Source: Fig. 2, arXiv:2506.12708v3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icrosoft YaHei"/>
              </a:rPr>
              <a:t>UB 平面把跨芯粒通信推到接近本地的语义与带宽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3258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30583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841391"/>
            <a:ext cx="3584448" cy="11704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4932831"/>
            <a:ext cx="3328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1F4E79"/>
                </a:solidFill>
                <a:latin typeface="Arial"/>
              </a:rPr>
              <a:t>131 vs 46 GB/s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5162066"/>
            <a:ext cx="3328416" cy="6851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Microsoft YaHei"/>
              </a:rPr>
              <a:t>Combine 每 rank 带宽（EP8），约为 H800 RDMA 的 3×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4841391"/>
            <a:ext cx="3584448" cy="11704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4932831"/>
            <a:ext cx="3328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1F4E79"/>
                </a:solidFill>
                <a:latin typeface="Arial"/>
              </a:rPr>
              <a:t>118 vs 318 µs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5162066"/>
            <a:ext cx="3328416" cy="6851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Microsoft YaHei"/>
              </a:rPr>
              <a:t>Combine 时延（EP8）；EP256 下仍 149 vs 360 µs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28432" y="4841391"/>
            <a:ext cx="3584448" cy="11704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4932831"/>
            <a:ext cx="3328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1F4E79"/>
                </a:solidFill>
                <a:latin typeface="Arial"/>
              </a:rPr>
              <a:t>103 vs 40 GB/s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5162066"/>
            <a:ext cx="3328416" cy="6851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Microsoft YaHei"/>
              </a:rPr>
              <a:t>EP256 高并行度下 Combine 带宽仍 2.6×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6E6E6E"/>
                </a:solidFill>
                <a:latin typeface="Microsoft YaHei"/>
              </a:rPr>
              <a:t>拓扑：板载 L1 + 机柜级 L2 两级 UB 交换，L2 无带宽收敛；7 个子平面 × 16 颗 L2 芯片 × 48 端口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6E6E6E"/>
                </a:solidFill>
                <a:latin typeface="Arial"/>
              </a:rPr>
              <a:t>Source: Fig. 5 &amp; Table 6（CANN EP vs DeepSeek DeepEP on H800）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icrosoft YaHei"/>
              </a:rPr>
              <a:t>CloudMatrix-Infer：prefill、解码、缓存分离为三个资源池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3258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223760" cy="36851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257886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6E6E6E"/>
                </a:solidFill>
                <a:latin typeface="Microsoft YaHei"/>
              </a:rPr>
              <a:t>PDC 分离：三池各自扩展，经 UB 对等互通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600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Microsoft YaHei"/>
              </a:rPr>
              <a:t>▪ 对等替代 KVCache 中心化：</a:t>
            </a:r>
            <a:r>
              <a:rPr sz="1250">
                <a:solidFill>
                  <a:srgbClr val="404040"/>
                </a:solidFill>
                <a:latin typeface="Microsoft YaHei"/>
              </a:rPr>
              <a:t>UB 上等带宽访问缓存，调度不再迁就局部性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Microsoft YaHei"/>
              </a:rPr>
              <a:t>▪ 收益：</a:t>
            </a:r>
            <a:r>
              <a:rPr sz="1250">
                <a:solidFill>
                  <a:srgbClr val="404040"/>
                </a:solidFill>
                <a:latin typeface="Microsoft YaHei"/>
              </a:rPr>
              <a:t>调度简化、负载更均衡、缓存容量全池共享（§4.1）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Microsoft YaHei"/>
              </a:rPr>
              <a:t>▪ 预分配双缓冲：</a:t>
            </a:r>
            <a:r>
              <a:rPr sz="1250">
                <a:solidFill>
                  <a:srgbClr val="404040"/>
                </a:solidFill>
                <a:latin typeface="Microsoft YaHei"/>
              </a:rPr>
              <a:t>消除动态形状带来的分配与同步开销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6E6E6E"/>
                </a:solidFill>
                <a:latin typeface="Arial"/>
              </a:rPr>
              <a:t>Source: Fig. 9, arXiv:2506.12708v3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icrosoft YaHei"/>
              </a:rPr>
              <a:t>EP320 专家并行：每个 NPU 芯粒只放一个专家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3258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223760" cy="40012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3975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6E6E6E"/>
                </a:solidFill>
                <a:latin typeface="Microsoft YaHei"/>
              </a:rPr>
              <a:t>上：三次 all-to-all 的基本 MoE 流程；下：融合算子流程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600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Microsoft YaHei"/>
              </a:rPr>
              <a:t>▪ FusedDispatch / FusedCombine：</a:t>
            </a:r>
            <a:r>
              <a:rPr sz="1250">
                <a:solidFill>
                  <a:srgbClr val="404040"/>
                </a:solidFill>
                <a:latin typeface="Microsoft YaHei"/>
              </a:rPr>
              <a:t>融合算子替换三次 all-to-all，AIV 直连写入对端内存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Microsoft YaHei"/>
              </a:rPr>
              <a:t>▪ 消息先行 INT8 量化：</a:t>
            </a:r>
            <a:r>
              <a:rPr sz="1250">
                <a:solidFill>
                  <a:srgbClr val="404040"/>
                </a:solidFill>
                <a:latin typeface="Microsoft YaHei"/>
              </a:rPr>
              <a:t>每 token 消息压到 7.5 KB，通信与计算重叠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Microsoft YaHei"/>
              </a:rPr>
              <a:t>▪ EP320：</a:t>
            </a:r>
            <a:r>
              <a:rPr sz="1250">
                <a:solidFill>
                  <a:srgbClr val="404040"/>
                </a:solidFill>
                <a:latin typeface="Microsoft YaHei"/>
              </a:rPr>
              <a:t>DeepSeek-R1 的 256 路由专家 + 冗余，逐芯粒单专家，解码低时延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6E6E6E"/>
                </a:solidFill>
                <a:latin typeface="Arial"/>
              </a:rPr>
              <a:t>Source: Fig. 10-12, arXiv:2506.12708v3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icrosoft YaHei"/>
              </a:rPr>
              <a:t>微批次流水线与 MTP：解码吞吐再拿 5.8%~9.4% 与 6%~49%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3258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394960" cy="2834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556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1A1A1A"/>
                </a:solidFill>
                <a:latin typeface="Microsoft YaHei"/>
              </a:rPr>
              <a:t>微批次解码流水线（§4.2.3）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86000"/>
            <a:ext cx="49926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</a:rPr>
              <a:t>▪ 注意力流与 MoE 流按微批次重叠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</a:rPr>
              <a:t>▪ 逐层时延降低约 10%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</a:rPr>
              <a:t>▪ batch 64/96/128 吞吐 +5.8% / +9.4% / +6.9%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554480"/>
            <a:ext cx="5394960" cy="2834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8" y="17556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1A1A1A"/>
                </a:solidFill>
                <a:latin typeface="Microsoft YaHei"/>
              </a:rPr>
              <a:t>多 token 预测 MTP（§4.2.4）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286000"/>
            <a:ext cx="49926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</a:rPr>
              <a:t>▪ 单投机 token，接受率约 70%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</a:rPr>
              <a:t>▪ batch 越小收益越大：+6% ~ +49%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</a:rPr>
              <a:t>▪ DeepSeek-R1 原生特性，硬件侧流水化支持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09160"/>
            <a:ext cx="11109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1947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Microsoft YaHei"/>
              </a:rPr>
              <a:t>对照：SGLang 在 NVIDIA H100 集群上称微批次收益可达 35%。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E6E6E"/>
                </a:solidFill>
                <a:latin typeface="Microsoft YaHei"/>
              </a:rPr>
              <a:t>CM384 上收益较小的原因：UB 平面的 MoE 分发/合并通信停顿本身就更低，可隐藏的开销天花板更低（§5.4.1）——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F4E79"/>
                </a:solidFill>
                <a:latin typeface="Microsoft YaHei"/>
              </a:rPr>
              <a:t>这从反面印证了互连质量：别人的优化项，在这里已是基线。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6E6E6E"/>
                </a:solidFill>
                <a:latin typeface="Arial"/>
              </a:rPr>
              <a:t>Source: Fig. 20-22 &amp; §5.4, arXiv:2506.12708v3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icrosoft YaHei"/>
              </a:rPr>
              <a:t>UB 驱动的分布式缓存：冷启动 2,560s→320s，命中时 prefill 2.28×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3258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223760" cy="36851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257886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6E6E6E"/>
                </a:solidFill>
                <a:latin typeface="Microsoft YaHei"/>
              </a:rPr>
              <a:t>EMS 分离式内存池部署形态：UB 平面直连各节点 DRAM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544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1A1A1A"/>
                </a:solidFill>
                <a:latin typeface="Microsoft YaHei"/>
              </a:rPr>
              <a:t>▪ 模型加载：</a:t>
            </a:r>
            <a:r>
              <a:rPr sz="1250">
                <a:solidFill>
                  <a:srgbClr val="404040"/>
                </a:solidFill>
                <a:latin typeface="Microsoft YaHei"/>
              </a:rPr>
              <a:t>8 实例争 2.5 GB/s OBS，2,560s → EMS 池化共享 320s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1A1A1A"/>
                </a:solidFill>
                <a:latin typeface="Microsoft YaHei"/>
              </a:rPr>
              <a:t>▪ 模型切换：</a:t>
            </a:r>
            <a:r>
              <a:rPr sz="1250">
                <a:solidFill>
                  <a:srgbClr val="404040"/>
                </a:solidFill>
                <a:latin typeface="Microsoft YaHei"/>
              </a:rPr>
              <a:t>本地缓存命中率仅 12.5% 时 281s；EMS 约 5s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1A1A1A"/>
                </a:solidFill>
                <a:latin typeface="Microsoft YaHei"/>
              </a:rPr>
              <a:t>▪ 上下文缓存：</a:t>
            </a:r>
            <a:r>
              <a:rPr sz="1250">
                <a:solidFill>
                  <a:srgbClr val="404040"/>
                </a:solidFill>
                <a:latin typeface="Microsoft YaHei"/>
              </a:rPr>
              <a:t>复用率 90% 时 prefill 2.28×、TTFT 降 59%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1A1A1A"/>
                </a:solidFill>
                <a:latin typeface="Microsoft YaHei"/>
              </a:rPr>
              <a:t>▪ 内存占用：</a:t>
            </a:r>
            <a:r>
              <a:rPr sz="1250">
                <a:solidFill>
                  <a:srgbClr val="404040"/>
                </a:solidFill>
                <a:latin typeface="Microsoft YaHei"/>
              </a:rPr>
              <a:t>8 实例共享 1 份模型副本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6E6E6E"/>
                </a:solidFill>
                <a:latin typeface="Arial"/>
              </a:rPr>
              <a:t>Source: Fig. 19, Table 1 &amp; Fig. 23, arXiv:2506.12708v3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icrosoft YaHei"/>
              </a:rPr>
              <a:t>DeepSeek-R1 服务效率超过 H100/H800 已发表结果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3258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2286000"/>
                <a:gridCol w="2560320"/>
              </a:tblGrid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系统</a:t>
                      </a:r>
                    </a:p>
                  </a:txBody>
                  <a:tcPr marL="91440" marR="9144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prefill 效率</a:t>
                      </a:r>
                    </a:p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(tokens/s/TFLOPS)</a:t>
                      </a:r>
                    </a:p>
                  </a:txBody>
                  <a:tcPr marL="91440" marR="9144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decode 效率</a:t>
                      </a:r>
                    </a:p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(tokens/s/TFLOPS)</a:t>
                      </a:r>
                    </a:p>
                  </a:txBody>
                  <a:tcPr marL="91440" marR="9144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decode 吞吐</a:t>
                      </a:r>
                    </a:p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(tokens/s/GPU·NPU)</a:t>
                      </a:r>
                    </a:p>
                  </a:txBody>
                  <a:tcPr marL="91440" marR="91440" anchor="ctr">
                    <a:solidFill>
                      <a:srgbClr val="1F4E79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</a:rPr>
                        <a:t>SGLang @H100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3.75（Perfect EPLB）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1.10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2,172（batch 128）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</a:rPr>
                        <a:t>DeepSeek(Profile) @H800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3.96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1.17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2,325（batch 128）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</a:rPr>
                        <a:t>DeepSeek(Blog) @H800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0.93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1,850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4E79"/>
                          </a:solidFill>
                          <a:latin typeface="Microsoft YaHei"/>
                        </a:rPr>
                        <a:t>CloudMatrix-Infer</a:t>
                      </a:r>
                    </a:p>
                  </a:txBody>
                  <a:tcPr marL="91440" marR="9144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4E79"/>
                          </a:solidFill>
                          <a:latin typeface="Arial"/>
                        </a:rPr>
                        <a:t>3.76 默认 / 4.45 Perfect EPLB</a:t>
                      </a:r>
                    </a:p>
                  </a:txBody>
                  <a:tcPr marL="91440" marR="9144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4E79"/>
                          </a:solidFill>
                          <a:latin typeface="Arial"/>
                        </a:rPr>
                        <a:t>1.29</a:t>
                      </a:r>
                    </a:p>
                  </a:txBody>
                  <a:tcPr marL="91440" marR="9144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4E79"/>
                          </a:solidFill>
                          <a:latin typeface="Arial"/>
                        </a:rPr>
                        <a:t>1,943（batch 96）</a:t>
                      </a:r>
                    </a:p>
                  </a:txBody>
                  <a:tcPr marL="91440" marR="91440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892040"/>
            <a:ext cx="3584448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4983480"/>
            <a:ext cx="3328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6,688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5273039"/>
            <a:ext cx="3328416" cy="6888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Microsoft YaHei"/>
              </a:rPr>
              <a:t>prefill tokens/s/NPU @4K prompt（Perfect EPLB）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4892040"/>
            <a:ext cx="3584448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4983480"/>
            <a:ext cx="3328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1,943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5273039"/>
            <a:ext cx="3328416" cy="6888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Microsoft YaHei"/>
              </a:rPr>
              <a:t>decode tokens/s/NPU，TPOT 49.4 ms（batch 96）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28432" y="4892040"/>
            <a:ext cx="3584448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4983480"/>
            <a:ext cx="3328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538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5273039"/>
            <a:ext cx="3328416" cy="6888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Microsoft YaHei"/>
              </a:rPr>
              <a:t>sub-15 ms 更严 SLO 下仍可维持的 decode 吞吐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6E6E6E"/>
                </a:solidFill>
                <a:latin typeface="Arial"/>
              </a:rPr>
              <a:t>Source: Table 2-4 &amp; §5.2；对比系统的 decode 批大小为 128（CM384 为 96）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icrosoft YaHei"/>
              </a:rPr>
              <a:t>INT8 量化：16 项基准精度与官方 API 相当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3258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▪ 五件套量化方案：</a:t>
            </a:r>
            <a:r>
              <a:rPr sz="1400">
                <a:solidFill>
                  <a:srgbClr val="404040"/>
                </a:solidFill>
                <a:latin typeface="Microsoft YaHei"/>
              </a:rPr>
              <a:t>混合精度划分、自适应缩放搜索、离群抑制、块级裁剪、误差补偿（§4.5）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▪ 权重 INT8 + 激活逐 token INT8：</a:t>
            </a:r>
            <a:r>
              <a:rPr sz="1400">
                <a:solidFill>
                  <a:srgbClr val="404040"/>
                </a:solidFill>
                <a:latin typeface="Microsoft YaHei"/>
              </a:rPr>
              <a:t>矩阵乘内核用满昇腾整数算力单元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▪ 验证：</a:t>
            </a:r>
            <a:r>
              <a:rPr sz="1400">
                <a:solidFill>
                  <a:srgbClr val="404040"/>
                </a:solidFill>
                <a:latin typeface="Microsoft YaHei"/>
              </a:rPr>
              <a:t>16 项基准（MMLU 90.82 vs 官方 91.05 等）整体持平（Table 5）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▪ 算子层面：</a:t>
            </a:r>
            <a:r>
              <a:rPr sz="1400">
                <a:solidFill>
                  <a:srgbClr val="404040"/>
                </a:solidFill>
                <a:latin typeface="Microsoft YaHei"/>
              </a:rPr>
              <a:t>MLA 利用率 65.4%（FlashMLA@H800 66.7%）；INT8 GEMM 计算利用率 77.4%~82.7%</a:t>
            </a:r>
          </a:p>
        </p:txBody>
      </p:sp>
      <p:sp>
        <p:nvSpPr>
          <p:cNvPr id="5" name="Rectangle 4"/>
          <p:cNvSpPr/>
          <p:nvPr/>
        </p:nvSpPr>
        <p:spPr>
          <a:xfrm>
            <a:off x="7635240" y="1600200"/>
            <a:ext cx="3977639" cy="4206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810512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6E6E6E"/>
                </a:solidFill>
                <a:latin typeface="Microsoft YaHei"/>
              </a:rPr>
              <a:t>INT8 五步流水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240280"/>
            <a:ext cx="35661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</a:rPr>
              <a:t>① 按敏感度划分精度（BF16/FP32 保留关键层）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</a:rPr>
              <a:t>② 离线搜索最优缩放因子（Eq.3）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</a:rPr>
              <a:t>③ 长尾离群抑制与结构变换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</a:rPr>
              <a:t>④ 块级裁剪范围求解（Eq.4）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</a:rPr>
              <a:t>⑤ 图中插入轻量误差补偿项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6E6E6E"/>
                </a:solidFill>
                <a:latin typeface="Arial"/>
              </a:rPr>
              <a:t>Source: Table 5, 7-9 &amp; §4.5, arXiv:2506.12708v3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icrosoft YaHei"/>
              </a:rPr>
              <a:t>超节点：用互连带宽换来的“单一节点抽象”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3258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▪ 硬件前提：</a:t>
            </a:r>
            <a:r>
              <a:rPr sz="1500">
                <a:solidFill>
                  <a:srgbClr val="404040"/>
                </a:solidFill>
                <a:latin typeface="Microsoft YaHei"/>
              </a:rPr>
              <a:t>全对等 UB 平面让池化、统一访问、独立扩展成为可能——互连即资源（§3）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▪ 软件兑现：</a:t>
            </a:r>
            <a:r>
              <a:rPr sz="1500">
                <a:solidFill>
                  <a:srgbClr val="404040"/>
                </a:solidFill>
                <a:latin typeface="Microsoft YaHei"/>
              </a:rPr>
              <a:t>PDC 分离 + EP320 + 融合算子/微批次/INT8，把互连红利转成 4.45/1.29 的效率（§4）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▪ 诚实边界：</a:t>
            </a:r>
            <a:r>
              <a:rPr sz="1500">
                <a:solidFill>
                  <a:srgbClr val="404040"/>
                </a:solidFill>
                <a:latin typeface="Microsoft YaHei"/>
              </a:rPr>
              <a:t>EPLB 未达理想、大 EP 度 Dispatch 带宽退化、VPC/RDMA 平面尚未统一（§5.4/§6）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977639"/>
            <a:ext cx="11109960" cy="17373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206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Microsoft YaHei"/>
              </a:rPr>
              <a:t>对本课题的参照价值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</a:rPr>
              <a:t>CloudMatrix384 是“多节点设备管理统一性”路线的生产级样本：UB 的统一内存语义让 768 个芯粒在软件视角下可当作单一节点调度；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</a:rPr>
              <a:t>后续可对照其 6.1-6.2 节演进方向（更大规模、CPU 池化、组件级分离）审视统一性边界的推进节奏。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6E6E6E"/>
                </a:solidFill>
                <a:latin typeface="Arial"/>
              </a:rPr>
              <a:t>arXiv:2506.12708v3 · 组会文献汇报 · 2026-10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